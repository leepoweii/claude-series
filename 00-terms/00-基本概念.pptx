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7"/>
  </p:normalViewPr>
  <p:slideViewPr>
    <p:cSldViewPr snapToGrid="0" snapToObjects="1">
      <p:cViewPr varScale="1">
        <p:scale>
          <a:sx n="81" d="100"/>
          <a:sy n="81" d="100"/>
        </p:scale>
        <p:origin x="3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430000" y="-914400"/>
            <a:ext cx="3657600" cy="3657600"/>
          </a:xfrm>
          <a:prstGeom prst="ellipse">
            <a:avLst/>
          </a:prstGeom>
          <a:solidFill>
            <a:srgbClr val="F3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371600" y="5486400"/>
            <a:ext cx="3200400" cy="3200400"/>
          </a:xfrm>
          <a:prstGeom prst="ellipse">
            <a:avLst/>
          </a:prstGeom>
          <a:solidFill>
            <a:srgbClr val="F3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2286000"/>
            <a:ext cx="2743200" cy="45720"/>
          </a:xfrm>
          <a:prstGeom prst="rect">
            <a:avLst/>
          </a:prstGeom>
          <a:solidFill>
            <a:srgbClr val="C4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C1E14"/>
                </a:solidFill>
                <a:latin typeface="Georgia"/>
              </a:defRPr>
            </a:pPr>
            <a:r>
              <a:t>Claude CoWork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C46C3B"/>
                </a:solidFill>
                <a:latin typeface="Georgia"/>
              </a:defRPr>
            </a:pPr>
            <a:r>
              <a:t>實戰工作坊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B5B4E"/>
                </a:solidFill>
                <a:latin typeface="Avenir Next"/>
              </a:defRPr>
            </a:pPr>
            <a:r>
              <a:t>學會指揮 AI，讓它變成你的超級員工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7132320"/>
            <a:ext cx="14630400" cy="1097280"/>
          </a:xfrm>
          <a:prstGeom prst="roundRect">
            <a:avLst>
              <a:gd name="adj" fmla="val 4000"/>
            </a:avLst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7315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EEE3"/>
                </a:solidFill>
                <a:latin typeface="Avenir Next"/>
              </a:defRPr>
            </a:pPr>
            <a:r>
              <a:t>半畝咖啡 Half Acre Coffee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7315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A89A8A"/>
                </a:solidFill>
                <a:latin typeface="Avenir Next"/>
              </a:defRPr>
            </a:pPr>
            <a:r>
              <a:t>金門金城鎮 · AI 協作營運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887200" y="457200"/>
            <a:ext cx="2286000" cy="2286000"/>
          </a:xfrm>
          <a:prstGeom prst="ellipse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89A8A"/>
                </a:solidFill>
                <a:latin typeface="Avenir Next"/>
              </a:defRPr>
            </a:pPr>
            <a:r>
              <a:t>AI 是什麼？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286000" cy="36576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Georgia"/>
              </a:defRPr>
            </a:pPr>
            <a:r>
              <a:t>博士班剛畢業的社會新鮮人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5EEE3"/>
                </a:solidFill>
                <a:latin typeface="Avenir Next"/>
              </a:defRPr>
            </a:pPr>
            <a:r>
              <a:t>他什麼都懂 — 讀過所有論文、教科書、百科全書</a:t>
            </a:r>
          </a:p>
          <a:p>
            <a:pPr>
              <a:spcAft>
                <a:spcPts val="1000"/>
              </a:spcAft>
              <a:defRPr sz="2200">
                <a:solidFill>
                  <a:srgbClr val="F5EEE3"/>
                </a:solidFill>
                <a:latin typeface="Avenir Next"/>
              </a:defRPr>
            </a:pPr>
            <a:endParaRPr/>
          </a:p>
          <a:p>
            <a:pPr>
              <a:spcAft>
                <a:spcPts val="1000"/>
              </a:spcAft>
              <a:defRPr sz="2200" b="1">
                <a:solidFill>
                  <a:srgbClr val="D4A54A"/>
                </a:solidFill>
                <a:latin typeface="Avenir Next"/>
              </a:defRPr>
            </a:pPr>
            <a:r>
              <a:t>但他完全不懂老闆想要的是什麼</a:t>
            </a:r>
          </a:p>
          <a:p>
            <a:pPr>
              <a:spcAft>
                <a:spcPts val="1000"/>
              </a:spcAft>
              <a:defRPr sz="2200">
                <a:solidFill>
                  <a:srgbClr val="F5EEE3"/>
                </a:solidFill>
                <a:latin typeface="Avenir Next"/>
              </a:defRPr>
            </a:pPr>
            <a:endParaRPr/>
          </a:p>
          <a:p>
            <a:pPr>
              <a:spcAft>
                <a:spcPts val="1000"/>
              </a:spcAft>
              <a:defRPr sz="2200" b="1">
                <a:solidFill>
                  <a:srgbClr val="C46C3B"/>
                </a:solidFill>
                <a:latin typeface="Avenir Next"/>
              </a:defRPr>
            </a:pPr>
            <a:r>
              <a:t>而我們，就是他的老闆。所以我們要學會指揮他。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9A8A"/>
                </a:solidFill>
                <a:latin typeface="Avenir Next"/>
              </a:defRPr>
            </a:pPr>
            <a:r>
              <a:t>今天要學會的四件事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760720"/>
            <a:ext cx="2743200" cy="1645920"/>
          </a:xfrm>
          <a:prstGeom prst="roundRect">
            <a:avLst>
              <a:gd name="adj" fmla="val 4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45920" y="5943600"/>
            <a:ext cx="1097280" cy="36576"/>
          </a:xfrm>
          <a:prstGeom prst="rect">
            <a:avLst/>
          </a:prstGeom>
          <a:solidFill>
            <a:srgbClr val="C4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6126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6C3B"/>
                </a:solidFill>
                <a:latin typeface="Georgia"/>
              </a:defRPr>
            </a:pPr>
            <a: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6583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EE3"/>
                </a:solidFill>
                <a:latin typeface="Avenir Next"/>
              </a:defRPr>
            </a:pPr>
            <a:r>
              <a:t>講清楚要做什麼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5760720"/>
            <a:ext cx="2743200" cy="1645920"/>
          </a:xfrm>
          <a:prstGeom prst="roundRect">
            <a:avLst>
              <a:gd name="adj" fmla="val 4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5943600"/>
            <a:ext cx="1097280" cy="36576"/>
          </a:xfrm>
          <a:prstGeom prst="rect">
            <a:avLst/>
          </a:prstGeom>
          <a:solidFill>
            <a:srgbClr val="5B7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6126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7C5A"/>
                </a:solidFill>
                <a:latin typeface="Georgia"/>
              </a:defRPr>
            </a:pPr>
            <a:r>
              <a:t>Connectors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6583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EE3"/>
                </a:solidFill>
                <a:latin typeface="Avenir Next"/>
              </a:defRPr>
            </a:pPr>
            <a:r>
              <a:t>給他工具用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5760720"/>
            <a:ext cx="2743200" cy="1645920"/>
          </a:xfrm>
          <a:prstGeom prst="roundRect">
            <a:avLst>
              <a:gd name="adj" fmla="val 4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80960" y="5943600"/>
            <a:ext cx="1097280" cy="36576"/>
          </a:xfrm>
          <a:prstGeom prst="rect">
            <a:avLst/>
          </a:prstGeom>
          <a:solidFill>
            <a:srgbClr val="8B5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0" y="6126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7E"/>
                </a:solidFill>
                <a:latin typeface="Georgia"/>
              </a:defRPr>
            </a:pPr>
            <a:r>
              <a:t>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6583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EE3"/>
                </a:solidFill>
                <a:latin typeface="Avenir Next"/>
              </a:defRPr>
            </a:pPr>
            <a:r>
              <a:t>給他 SOP 照做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24159" y="5760720"/>
            <a:ext cx="2743200" cy="1645920"/>
          </a:xfrm>
          <a:prstGeom prst="roundRect">
            <a:avLst>
              <a:gd name="adj" fmla="val 4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698480" y="5943600"/>
            <a:ext cx="1097280" cy="36576"/>
          </a:xfrm>
          <a:prstGeom prst="rect">
            <a:avLst/>
          </a:prstGeom>
          <a:solidFill>
            <a:srgbClr val="A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0" y="6126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9A8A"/>
                </a:solidFill>
                <a:latin typeface="Georgia"/>
              </a:defRPr>
            </a:pPr>
            <a:r>
              <a:t>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583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EE3"/>
                </a:solidFill>
                <a:latin typeface="Avenir Next"/>
              </a:defRPr>
            </a:pPr>
            <a:r>
              <a:t>知道就好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3ECE1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1E14"/>
                </a:solidFill>
                <a:latin typeface="Georgia"/>
              </a:defRPr>
            </a:pPr>
            <a:r>
              <a:t>      Context — 上下文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2743200" cy="36576"/>
          </a:xfrm>
          <a:prstGeom prst="rect">
            <a:avLst/>
          </a:prstGeom>
          <a:solidFill>
            <a:srgbClr val="C4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1188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B5B4E"/>
                </a:solidFill>
                <a:latin typeface="Avenir Next"/>
              </a:defRPr>
            </a:pPr>
            <a:r>
              <a:t>AI 當下腦袋裡專注的東西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11887200" cy="1371600"/>
          </a:xfrm>
          <a:prstGeom prst="roundRect">
            <a:avLst>
              <a:gd name="adj" fmla="val 3000"/>
            </a:avLst>
          </a:prstGeom>
          <a:solidFill>
            <a:srgbClr val="F3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2926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6B5B4E"/>
                </a:solidFill>
                <a:latin typeface="Avenir Next"/>
              </a:defRPr>
            </a:pPr>
            <a:r>
              <a:t>跟 AI 溝通，就像跟一個只能用文字聊天的網友</a:t>
            </a:r>
          </a:p>
          <a:p>
            <a:pPr>
              <a:spcAft>
                <a:spcPts val="1000"/>
              </a:spcAft>
              <a:defRPr sz="2000">
                <a:solidFill>
                  <a:srgbClr val="6B5B4E"/>
                </a:solidFill>
                <a:latin typeface="Avenir Next"/>
              </a:defRPr>
            </a:pPr>
            <a:r>
              <a:t>看不到你的表情、手勢、周圍環境 — 什麼都要用文字描述清楚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572000"/>
            <a:ext cx="5669280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669280" cy="45720"/>
          </a:xfrm>
          <a:prstGeom prst="rect">
            <a:avLst/>
          </a:prstGeom>
          <a:solidFill>
            <a:srgbClr val="5B7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4846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7C5A"/>
                </a:solidFill>
                <a:latin typeface="Avenir Next"/>
              </a:defRPr>
            </a:pPr>
            <a:r>
              <a:t>現實生活 — 老手帶新手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3949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6B5B4E"/>
                </a:solidFill>
                <a:latin typeface="Avenir Next"/>
              </a:defRPr>
            </a:pPr>
            <a:r>
              <a:t>☕  老手示範一次手沖</a:t>
            </a:r>
          </a:p>
          <a:p>
            <a:pPr>
              <a:spcAft>
                <a:spcPts val="1000"/>
              </a:spcAft>
              <a:defRPr sz="1800">
                <a:solidFill>
                  <a:srgbClr val="6B5B4E"/>
                </a:solidFill>
                <a:latin typeface="Avenir Next"/>
              </a:defRPr>
            </a:pPr>
            <a:endParaRPr/>
          </a:p>
          <a:p>
            <a:pPr>
              <a:spcAft>
                <a:spcPts val="1000"/>
              </a:spcAft>
              <a:defRPr sz="1800" b="1">
                <a:solidFill>
                  <a:srgbClr val="2C1E14"/>
                </a:solidFill>
                <a:latin typeface="Avenir Next"/>
              </a:defRPr>
            </a:pPr>
            <a:r>
              <a:t>「這支豆子就這樣沖」</a:t>
            </a:r>
          </a:p>
          <a:p>
            <a:pPr>
              <a:spcAft>
                <a:spcPts val="1000"/>
              </a:spcAft>
              <a:defRPr sz="1800">
                <a:solidFill>
                  <a:srgbClr val="6B5B4E"/>
                </a:solidFill>
                <a:latin typeface="Avenir Next"/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6B5B4E"/>
                </a:solidFill>
                <a:latin typeface="Avenir Next"/>
              </a:defRPr>
            </a:pPr>
            <a:r>
              <a:t>看一次就會了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572000"/>
            <a:ext cx="5669280" cy="2926080"/>
          </a:xfrm>
          <a:prstGeom prst="roundRect">
            <a:avLst>
              <a:gd name="adj" fmla="val 3000"/>
            </a:avLst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4572000"/>
            <a:ext cx="5669280" cy="45720"/>
          </a:xfrm>
          <a:prstGeom prst="rect">
            <a:avLst/>
          </a:prstGeom>
          <a:solidFill>
            <a:srgbClr val="C4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0" y="4846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6C3B"/>
                </a:solidFill>
                <a:latin typeface="Avenir Next"/>
              </a:defRPr>
            </a:pPr>
            <a:r>
              <a:t>對 AI 說 — 只有文字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3949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EEE3"/>
                </a:solidFill>
                <a:latin typeface="Avenir Next"/>
              </a:defRPr>
            </a:pPr>
            <a:r>
              <a:t>「這支是淺焙耶加雪菲</a:t>
            </a:r>
          </a:p>
          <a:p>
            <a:pPr>
              <a:spcAft>
                <a:spcPts val="1000"/>
              </a:spcAft>
              <a:defRPr sz="1600">
                <a:solidFill>
                  <a:srgbClr val="F5EEE3"/>
                </a:solidFill>
                <a:latin typeface="Avenir Next"/>
              </a:defRPr>
            </a:pPr>
            <a:r>
              <a:t>　研磨刻度 25，水溫 92°C</a:t>
            </a:r>
          </a:p>
          <a:p>
            <a:pPr>
              <a:spcAft>
                <a:spcPts val="1000"/>
              </a:spcAft>
              <a:defRPr sz="1600">
                <a:solidFill>
                  <a:srgbClr val="F5EEE3"/>
                </a:solidFill>
                <a:latin typeface="Avenir Next"/>
              </a:defRPr>
            </a:pPr>
            <a:r>
              <a:t>　悶蒸 30 秒，總萃取 2:30</a:t>
            </a:r>
          </a:p>
          <a:p>
            <a:pPr>
              <a:spcAft>
                <a:spcPts val="1000"/>
              </a:spcAft>
              <a:defRPr sz="1600">
                <a:solidFill>
                  <a:srgbClr val="F5EEE3"/>
                </a:solidFill>
                <a:latin typeface="Avenir Next"/>
              </a:defRPr>
            </a:pPr>
            <a:r>
              <a:t>　小水柱繞圈，不要斷水</a:t>
            </a:r>
          </a:p>
          <a:p>
            <a:pPr>
              <a:spcAft>
                <a:spcPts val="1000"/>
              </a:spcAft>
              <a:defRPr sz="1600">
                <a:solidFill>
                  <a:srgbClr val="F5EEE3"/>
                </a:solidFill>
                <a:latin typeface="Avenir Next"/>
              </a:defRPr>
            </a:pPr>
            <a:r>
              <a:t>　目標風味：花香、柑橘調」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3ECE1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1E14"/>
                </a:solidFill>
                <a:latin typeface="Georgia"/>
              </a:defRPr>
            </a:pPr>
            <a:r>
              <a:t>      Connectors — 給 AI 用的工具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2743200" cy="36576"/>
          </a:xfrm>
          <a:prstGeom prst="rect">
            <a:avLst/>
          </a:prstGeom>
          <a:solidFill>
            <a:srgbClr val="5B7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11887200" cy="1645920"/>
          </a:xfrm>
          <a:prstGeom prst="roundRect">
            <a:avLst>
              <a:gd name="adj" fmla="val 3000"/>
            </a:avLst>
          </a:prstGeom>
          <a:solidFill>
            <a:srgbClr val="F3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6B5B4E"/>
                </a:solidFill>
                <a:latin typeface="Avenir Next"/>
              </a:defRPr>
            </a:pPr>
            <a:r>
              <a:t>新人什麼都會做，可是沒有工具就什麼都做不了</a:t>
            </a:r>
          </a:p>
          <a:p>
            <a:pPr>
              <a:spcAft>
                <a:spcPts val="1000"/>
              </a:spcAft>
              <a:defRPr sz="2000">
                <a:solidFill>
                  <a:srgbClr val="6B5B4E"/>
                </a:solidFill>
                <a:latin typeface="Avenir Next"/>
              </a:defRPr>
            </a:pPr>
            <a:r>
              <a:t>就像叫他手沖，但不給他磨豆機跟手沖壺 → 做不了</a:t>
            </a:r>
          </a:p>
          <a:p>
            <a:pPr>
              <a:spcAft>
                <a:spcPts val="1000"/>
              </a:spcAft>
              <a:defRPr sz="2000" b="1">
                <a:solidFill>
                  <a:srgbClr val="C46C3B"/>
                </a:solidFill>
                <a:latin typeface="Avenir Next"/>
              </a:defRPr>
            </a:pPr>
            <a:r>
              <a:t>Connectors 就是我們交給 AI 的「器材」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11887200" cy="822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4206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9A8A"/>
                </a:solidFill>
                <a:latin typeface="Avenir Next"/>
              </a:defRPr>
            </a:pPr>
            <a:r>
              <a:t>技術上叫 MCP — 這堂課用 Claude.ai 內建的 Connector，方便優先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3D2B1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      Skills — 把配方卡存起來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2743200" cy="36576"/>
          </a:xfrm>
          <a:prstGeom prst="rect">
            <a:avLst/>
          </a:prstGeom>
          <a:solidFill>
            <a:srgbClr val="8B5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11887200" cy="1645920"/>
          </a:xfrm>
          <a:prstGeom prst="roundRect">
            <a:avLst>
              <a:gd name="adj" fmla="val 3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EEE3"/>
                </a:solidFill>
                <a:latin typeface="Avenir Next"/>
              </a:defRPr>
            </a:pPr>
            <a:r>
              <a:t>AI 正常情況記性不太好 — 每次對話都是全新開始</a:t>
            </a:r>
          </a:p>
          <a:p>
            <a:pPr>
              <a:spcAft>
                <a:spcPts val="1000"/>
              </a:spcAft>
              <a:defRPr sz="2000">
                <a:solidFill>
                  <a:srgbClr val="F5EEE3"/>
                </a:solidFill>
                <a:latin typeface="Avenir Next"/>
              </a:defRPr>
            </a:pPr>
            <a:r>
              <a:t>所以我們把沖煮 SOP 寫成一張配方卡，每次拿給他照著沖</a:t>
            </a:r>
          </a:p>
          <a:p>
            <a:pPr>
              <a:spcAft>
                <a:spcPts val="1000"/>
              </a:spcAft>
              <a:defRPr sz="2000" b="1">
                <a:solidFill>
                  <a:srgbClr val="D4A54A"/>
                </a:solidFill>
                <a:latin typeface="Avenir Next"/>
              </a:defRPr>
            </a:pPr>
            <a:r>
              <a:t>「照這張卡，幫我沖一杯耶加雪菲」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EEE3"/>
                </a:solidFill>
                <a:latin typeface="Avenir Next"/>
              </a:defRPr>
            </a:pPr>
            <a:r>
              <a:t>同一件事，不同配方卡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663440"/>
            <a:ext cx="3931920" cy="2926080"/>
          </a:xfrm>
          <a:prstGeom prst="roundRect">
            <a:avLst>
              <a:gd name="adj" fmla="val 3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4663440"/>
            <a:ext cx="3931920" cy="45720"/>
          </a:xfrm>
          <a:prstGeom prst="rect">
            <a:avLst/>
          </a:prstGeom>
          <a:solidFill>
            <a:srgbClr val="C4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6C3B"/>
                </a:solidFill>
                <a:latin typeface="Georgia"/>
              </a:defRPr>
            </a:pPr>
            <a:r>
              <a:t>🌸  淺焙花香系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3949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耶加雪菲、藝伎</a:t>
            </a:r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刻度 25、水溫 92°C</a:t>
            </a:r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小水柱、悶蒸久一點</a:t>
            </a:r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風味：花香、柑橘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4663440"/>
            <a:ext cx="3931920" cy="2926080"/>
          </a:xfrm>
          <a:prstGeom prst="roundRect">
            <a:avLst>
              <a:gd name="adj" fmla="val 3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0" y="4663440"/>
            <a:ext cx="3931920" cy="45720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4A"/>
                </a:solidFill>
                <a:latin typeface="Georgia"/>
              </a:defRPr>
            </a:pPr>
            <a:r>
              <a:t>🍫  深焙醇厚系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53949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曼特寧、巴西</a:t>
            </a:r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刻度 20、水溫 88°C</a:t>
            </a:r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大水柱、快沖</a:t>
            </a:r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風味：巧克力、堅果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4663440"/>
            <a:ext cx="3931920" cy="2926080"/>
          </a:xfrm>
          <a:prstGeom prst="roundRect">
            <a:avLst>
              <a:gd name="adj" fmla="val 3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966960" y="4663440"/>
            <a:ext cx="3931920" cy="45720"/>
          </a:xfrm>
          <a:prstGeom prst="rect">
            <a:avLst/>
          </a:prstGeom>
          <a:solidFill>
            <a:srgbClr val="5B7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0" y="4846320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7C5A"/>
                </a:solidFill>
                <a:latin typeface="Georgia"/>
              </a:defRPr>
            </a:pPr>
            <a:r>
              <a:rPr dirty="0"/>
              <a:t>📊  </a:t>
            </a:r>
            <a:r>
              <a:rPr dirty="0" err="1"/>
              <a:t>對帳</a:t>
            </a:r>
            <a:r>
              <a:rPr dirty="0"/>
              <a:t> S</a:t>
            </a:r>
            <a:r>
              <a:rPr lang="en-US" dirty="0"/>
              <a:t>OP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0332720" y="5394960"/>
            <a:ext cx="32004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rPr dirty="0" err="1"/>
              <a:t>從</a:t>
            </a:r>
            <a:r>
              <a:rPr dirty="0"/>
              <a:t> Gmail </a:t>
            </a:r>
            <a:r>
              <a:rPr dirty="0" err="1"/>
              <a:t>撈對帳單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rPr dirty="0" err="1"/>
              <a:t>比對交貨記錄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rPr dirty="0" err="1"/>
              <a:t>產出差異報告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3ECE1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89A8A"/>
                </a:solidFill>
                <a:latin typeface="Georgia"/>
              </a:defRPr>
            </a:pPr>
            <a:r>
              <a:t>      API — 知道就好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2743200" cy="36576"/>
          </a:xfrm>
          <a:prstGeom prst="rect">
            <a:avLst/>
          </a:prstGeom>
          <a:solidFill>
            <a:srgbClr val="A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1188720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2834640"/>
            <a:ext cx="1005840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6B5B4E"/>
                </a:solidFill>
                <a:latin typeface="Avenir Next"/>
              </a:defRPr>
            </a:pPr>
            <a:r>
              <a:rPr dirty="0"/>
              <a:t>API </a:t>
            </a:r>
            <a:r>
              <a:rPr dirty="0" err="1"/>
              <a:t>是不同系統之間溝通的協定</a:t>
            </a:r>
            <a:endParaRPr dirty="0"/>
          </a:p>
          <a:p>
            <a:pPr>
              <a:spcAft>
                <a:spcPts val="1000"/>
              </a:spcAft>
              <a:defRPr sz="2200">
                <a:solidFill>
                  <a:srgbClr val="6B5B4E"/>
                </a:solidFill>
                <a:latin typeface="Avenir Next"/>
              </a:defRPr>
            </a:pPr>
            <a:r>
              <a:rPr dirty="0" err="1"/>
              <a:t>也是</a:t>
            </a:r>
            <a:r>
              <a:rPr dirty="0"/>
              <a:t> </a:t>
            </a:r>
            <a:r>
              <a:rPr dirty="0" err="1"/>
              <a:t>Connectors（MCP）的基礎</a:t>
            </a:r>
            <a:endParaRPr dirty="0"/>
          </a:p>
          <a:p>
            <a:pPr>
              <a:spcAft>
                <a:spcPts val="1000"/>
              </a:spcAft>
              <a:defRPr sz="2200">
                <a:solidFill>
                  <a:srgbClr val="6B5B4E"/>
                </a:solidFill>
                <a:latin typeface="Avenir Next"/>
              </a:defRPr>
            </a:pPr>
            <a:endParaRPr dirty="0"/>
          </a:p>
          <a:p>
            <a:pPr>
              <a:spcAft>
                <a:spcPts val="1000"/>
              </a:spcAft>
              <a:defRPr sz="2200" b="1">
                <a:solidFill>
                  <a:srgbClr val="2C1E14"/>
                </a:solidFill>
                <a:latin typeface="Avenir Next"/>
              </a:defRPr>
            </a:pPr>
            <a:r>
              <a:rPr dirty="0" err="1"/>
              <a:t>就</a:t>
            </a:r>
            <a:r>
              <a:rPr lang="zh-TW" altLang="en-US" dirty="0"/>
              <a:t>像城市之間的道路 </a:t>
            </a:r>
            <a:r>
              <a:rPr lang="en-US" altLang="zh-TW" dirty="0"/>
              <a:t>— </a:t>
            </a:r>
            <a:r>
              <a:rPr lang="zh-TW" altLang="en-US" dirty="0"/>
              <a:t>有了路，貨物才能運送</a:t>
            </a:r>
            <a:endParaRPr dirty="0"/>
          </a:p>
          <a:p>
            <a:pPr>
              <a:spcAft>
                <a:spcPts val="1000"/>
              </a:spcAft>
              <a:defRPr sz="2200">
                <a:solidFill>
                  <a:srgbClr val="6B5B4E"/>
                </a:solidFill>
                <a:latin typeface="Avenir Next"/>
              </a:defRPr>
            </a:pPr>
            <a:r>
              <a:rPr dirty="0" err="1"/>
              <a:t>但你不需要自己去鋪路，會開車就好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3657600" y="5943600"/>
            <a:ext cx="7315200" cy="914400"/>
          </a:xfrm>
          <a:prstGeom prst="roundRect">
            <a:avLst>
              <a:gd name="adj" fmla="val 3000"/>
            </a:avLst>
          </a:prstGeom>
          <a:solidFill>
            <a:srgbClr val="F3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0" y="6035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54A"/>
                </a:solidFill>
                <a:latin typeface="Avenir Next"/>
              </a:defRPr>
            </a:pPr>
            <a:r>
              <a:t>這堂課只要會用就好，不討論技術細節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54864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Markdown — 跟 AI 溝通的共同語言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280160"/>
            <a:ext cx="3657600" cy="36576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EEE3"/>
                </a:solidFill>
                <a:latin typeface="Avenir Next"/>
              </a:defRPr>
            </a:pPr>
            <a:r>
              <a:t>AI 讀得懂、你寫得快、格式乾淨 — 三方都開心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5943600" cy="5303520"/>
          </a:xfrm>
          <a:prstGeom prst="roundRect">
            <a:avLst>
              <a:gd name="adj" fmla="val 3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5943600" cy="45720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4A"/>
                </a:solidFill>
                <a:latin typeface="Avenir Next"/>
              </a:defRPr>
            </a:pPr>
            <a:r>
              <a:t>✍️  語法範例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EE3"/>
                </a:solidFill>
                <a:latin typeface="Menlo"/>
              </a:defRPr>
            </a:pPr>
            <a:r>
              <a:t># 標題</a:t>
            </a:r>
            <a:br/>
            <a:r>
              <a:t>## 小標題</a:t>
            </a:r>
            <a:br/>
            <a:br/>
            <a:r>
              <a:t>**粗體重點**  *斜體補充*</a:t>
            </a:r>
            <a:br/>
            <a:br/>
            <a:r>
              <a:t>- 項目一</a:t>
            </a:r>
            <a:br/>
            <a:r>
              <a:t>- 項目二</a:t>
            </a:r>
            <a:br/>
            <a:r>
              <a:t>  - 子項目</a:t>
            </a:r>
            <a:br/>
            <a:br/>
            <a:r>
              <a:t>| 品項 | 數量 | 單價 |</a:t>
            </a:r>
            <a:br/>
            <a:r>
              <a:t>|------|------|------|</a:t>
            </a:r>
            <a:br/>
            <a:r>
              <a:t>| 耶加雪菲 | 5包 | $850 |</a:t>
            </a:r>
            <a:br/>
            <a:br/>
            <a:r>
              <a:t>&gt; 引用：這段很重要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286000"/>
            <a:ext cx="5943600" cy="5303520"/>
          </a:xfrm>
          <a:prstGeom prst="roundRect">
            <a:avLst>
              <a:gd name="adj" fmla="val 3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0" y="2286000"/>
            <a:ext cx="5943600" cy="45720"/>
          </a:xfrm>
          <a:prstGeom prst="rect">
            <a:avLst/>
          </a:prstGeom>
          <a:solidFill>
            <a:srgbClr val="C4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6C3B"/>
                </a:solidFill>
                <a:latin typeface="Avenir Next"/>
              </a:defRPr>
            </a:pPr>
            <a:r>
              <a:t>💡  為什麼用 Markdown？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venir Next"/>
              </a:defRPr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venir Next"/>
              </a:defRPr>
            </a:pPr>
            <a:r>
              <a:t>結構清楚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9A8A"/>
                </a:solidFill>
                <a:latin typeface="Avenir Next"/>
              </a:defRPr>
            </a:pPr>
            <a:r>
              <a:t>標題、列表、表格</a:t>
            </a:r>
            <a:br/>
            <a:r>
              <a:t>AI 一看就懂，不會搞混重點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venir Next"/>
              </a:defRPr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venir Next"/>
              </a:defRPr>
            </a:pPr>
            <a:r>
              <a:t>寫起來超快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572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9A8A"/>
                </a:solidFill>
                <a:latin typeface="Avenir Next"/>
              </a:defRPr>
            </a:pPr>
            <a:r>
              <a:t>不用排版、不用開 Word</a:t>
            </a:r>
            <a:br/>
            <a:r>
              <a:t>純文字就能表達複雜結構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venir Next"/>
              </a:defRPr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venir Next"/>
              </a:defRPr>
            </a:pPr>
            <a:r>
              <a:t>到處都能用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5669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9A8A"/>
                </a:solidFill>
                <a:latin typeface="Avenir Next"/>
              </a:defRPr>
            </a:pPr>
            <a:r>
              <a:t>Claude、ChatGPT、Notion、GitHub</a:t>
            </a:r>
            <a:br/>
            <a:r>
              <a:t>全部都吃 Markdown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00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venir Next"/>
              </a:defRPr>
            </a:pPr>
            <a:r>
              <a:t>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venir Next"/>
              </a:defRPr>
            </a:pPr>
            <a:r>
              <a:t>今天的教材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6766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9A8A"/>
                </a:solidFill>
                <a:latin typeface="Avenir Next"/>
              </a:defRPr>
            </a:pPr>
            <a:r>
              <a:t>品牌故事是 .md、數據是 .csv</a:t>
            </a:r>
            <a:br/>
            <a:r>
              <a:t>全部都是純文字格式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356</Words>
  <Application>Microsoft Macintosh PowerPoint</Application>
  <PresentationFormat>自訂</PresentationFormat>
  <Paragraphs>89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李柏緯</cp:lastModifiedBy>
  <cp:revision>2</cp:revision>
  <dcterms:created xsi:type="dcterms:W3CDTF">2013-01-27T09:14:16Z</dcterms:created>
  <dcterms:modified xsi:type="dcterms:W3CDTF">2026-05-13T20:13:48Z</dcterms:modified>
  <cp:category/>
</cp:coreProperties>
</file>