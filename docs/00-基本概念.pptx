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30000" y="-914400"/>
            <a:ext cx="3657600" cy="3657600"/>
          </a:xfrm>
          <a:prstGeom prst="ellipse">
            <a:avLst/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486400"/>
            <a:ext cx="3200400" cy="3200400"/>
          </a:xfrm>
          <a:prstGeom prst="ellipse">
            <a:avLst/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274320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2C1E14"/>
                </a:solidFill>
                <a:latin typeface="Georgia"/>
              </a:defRPr>
            </a:pPr>
            <a:r>
              <a:t>Claude CoWork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C46C3B"/>
                </a:solidFill>
                <a:latin typeface="Georgia"/>
              </a:defRPr>
            </a:pPr>
            <a:r>
              <a:t>實戰工作坊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5B4E"/>
                </a:solidFill>
                <a:latin typeface="Avenir Next"/>
              </a:defRPr>
            </a:pPr>
            <a:r>
              <a:t>學會指揮 AI，讓它變成你的超級員工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7132320"/>
            <a:ext cx="14630400" cy="1097280"/>
          </a:xfrm>
          <a:prstGeom prst="roundRect">
            <a:avLst>
              <a:gd name="adj" fmla="val 4000"/>
            </a:avLst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7315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EEE3"/>
                </a:solidFill>
                <a:latin typeface="Avenir Next"/>
              </a:defRPr>
            </a:pPr>
            <a:r>
              <a:t>半畝咖啡 Half Acre Coffee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7315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金門金城鎮 · AI 協作營運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887200" y="457200"/>
            <a:ext cx="2286000" cy="2286000"/>
          </a:xfrm>
          <a:prstGeom prst="ellipse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9A8A"/>
                </a:solidFill>
                <a:latin typeface="Avenir Next"/>
              </a:defRPr>
            </a:pPr>
            <a:r>
              <a:t>AI 是什麼？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286000" cy="36576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博士班剛畢業的社會新鮮人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  <a:r>
              <a:t>他什麼都懂 — 讀過所有論文、教科書、百科全書</a:t>
            </a:r>
          </a:p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</a:p>
          <a:p>
            <a:pPr>
              <a:spcAft>
                <a:spcPts val="1000"/>
              </a:spcAft>
              <a:defRPr sz="2200" b="1">
                <a:solidFill>
                  <a:srgbClr val="D4A54A"/>
                </a:solidFill>
                <a:latin typeface="Avenir Next"/>
              </a:defRPr>
            </a:pPr>
            <a:r>
              <a:t>但他完全不懂老闆想要的是什麼</a:t>
            </a:r>
          </a:p>
          <a:p>
            <a:pPr>
              <a:spcAft>
                <a:spcPts val="1000"/>
              </a:spcAft>
              <a:defRPr sz="2200">
                <a:solidFill>
                  <a:srgbClr val="F5EEE3"/>
                </a:solidFill>
                <a:latin typeface="Avenir Next"/>
              </a:defRPr>
            </a:pPr>
          </a:p>
          <a:p>
            <a:pPr>
              <a:spcAft>
                <a:spcPts val="1000"/>
              </a:spcAft>
              <a:defRPr sz="2200" b="1">
                <a:solidFill>
                  <a:srgbClr val="C46C3B"/>
                </a:solidFill>
                <a:latin typeface="Avenir Next"/>
              </a:defRPr>
            </a:pPr>
            <a:r>
              <a:t>而我們，就是他的老闆。所以我們要學會指揮他。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今天要學會的四件事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5943600"/>
            <a:ext cx="1097280" cy="36576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6C3B"/>
                </a:solidFill>
                <a:latin typeface="Georgia"/>
              </a:defRPr>
            </a:pPr>
            <a: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講清楚要做什麼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5943600"/>
            <a:ext cx="1097280" cy="36576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7C5A"/>
                </a:solidFill>
                <a:latin typeface="Georgia"/>
              </a:defRPr>
            </a:pPr>
            <a:r>
              <a:t>Connectors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給他工具用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5943600"/>
            <a:ext cx="1097280" cy="36576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7E"/>
                </a:solidFill>
                <a:latin typeface="Georgia"/>
              </a:defRPr>
            </a:pPr>
            <a:r>
              <a:t>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給他 SOP 照做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59" y="5760720"/>
            <a:ext cx="2743200" cy="1645920"/>
          </a:xfrm>
          <a:prstGeom prst="roundRect">
            <a:avLst>
              <a:gd name="adj" fmla="val 4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98480" y="5943600"/>
            <a:ext cx="1097280" cy="36576"/>
          </a:xfrm>
          <a:prstGeom prst="rect">
            <a:avLst/>
          </a:prstGeom>
          <a:solidFill>
            <a:srgbClr val="A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6126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9A8A"/>
                </a:solidFill>
                <a:latin typeface="Georgia"/>
              </a:defRPr>
            </a:pPr>
            <a: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83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Avenir Next"/>
              </a:defRPr>
            </a:pPr>
            <a:r>
              <a:t>知道就好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1E14"/>
                </a:solidFill>
                <a:latin typeface="Georgia"/>
              </a:defRPr>
            </a:pPr>
            <a:r>
              <a:t>      Context — 上下文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5B4E"/>
                </a:solidFill>
                <a:latin typeface="Avenir Next"/>
              </a:defRPr>
            </a:pPr>
            <a:r>
              <a:t>AI 當下腦袋裡專注的東西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11887200" cy="137160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跟 AI 溝通，就像跟一個只能用文字聊天的網友</a:t>
            </a:r>
          </a:p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看不到你的表情、手勢、周圍環境 — 什麼都要用文字描述清楚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572000"/>
            <a:ext cx="5669280" cy="2926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669280" cy="45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7C5A"/>
                </a:solidFill>
                <a:latin typeface="Avenir Next"/>
              </a:defRPr>
            </a:pPr>
            <a:r>
              <a:t>現實生活 — 老手帶新手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94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r>
              <a:t>☕  老手示範一次手沖</a:t>
            </a:r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</a:p>
          <a:p>
            <a:pPr>
              <a:spcAft>
                <a:spcPts val="1000"/>
              </a:spcAft>
              <a:defRPr sz="1800" b="1">
                <a:solidFill>
                  <a:srgbClr val="2C1E14"/>
                </a:solidFill>
                <a:latin typeface="Avenir Next"/>
              </a:defRPr>
            </a:pPr>
            <a:r>
              <a:t>「這支豆子就這樣沖」</a:t>
            </a:r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6B5B4E"/>
                </a:solidFill>
                <a:latin typeface="Avenir Next"/>
              </a:defRPr>
            </a:pPr>
            <a:r>
              <a:t>看一次就會了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5669280" cy="2926080"/>
          </a:xfrm>
          <a:prstGeom prst="roundRect">
            <a:avLst>
              <a:gd name="adj" fmla="val 3000"/>
            </a:avLst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4572000"/>
            <a:ext cx="566928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對 AI 說 — 只有文字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394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「這支是淺焙耶加雪菲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研磨刻度 25，水溫 92°C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悶蒸 30 秒，總萃取 2:30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小水柱繞圈，不要斷水</a:t>
            </a:r>
          </a:p>
          <a:p>
            <a:pPr>
              <a:spcAft>
                <a:spcPts val="1000"/>
              </a:spcAft>
              <a:defRPr sz="1600">
                <a:solidFill>
                  <a:srgbClr val="F5EEE3"/>
                </a:solidFill>
                <a:latin typeface="Avenir Next"/>
              </a:defRPr>
            </a:pPr>
            <a:r>
              <a:t>　目標風味：花香、柑橘調」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1E14"/>
                </a:solidFill>
                <a:latin typeface="Georgia"/>
              </a:defRPr>
            </a:pPr>
            <a:r>
              <a:t>      Connectors — 給 AI 用的工具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164592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新人什麼都會做，可是沒有工具就什麼都做不了</a:t>
            </a:r>
          </a:p>
          <a:p>
            <a:pPr>
              <a:spcAft>
                <a:spcPts val="1000"/>
              </a:spcAft>
              <a:defRPr sz="2000">
                <a:solidFill>
                  <a:srgbClr val="6B5B4E"/>
                </a:solidFill>
                <a:latin typeface="Avenir Next"/>
              </a:defRPr>
            </a:pPr>
            <a:r>
              <a:t>就像叫他手沖，但不給他磨豆機跟手沖壺 → 做不了</a:t>
            </a:r>
          </a:p>
          <a:p>
            <a:pPr>
              <a:spcAft>
                <a:spcPts val="1000"/>
              </a:spcAft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Connectors 就是我們交給 AI 的「器材」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11887200" cy="822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9A8A"/>
                </a:solidFill>
                <a:latin typeface="Avenir Next"/>
              </a:defRPr>
            </a:pPr>
            <a:r>
              <a:t>技術上叫 MCP — 這堂課用 Claude.ai 內建的 Connector，方便優先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1E14"/>
                </a:solidFill>
                <a:latin typeface="Avenir Next"/>
              </a:defRPr>
            </a:pPr>
            <a:r>
              <a:t>今天會用到的工具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852160"/>
            <a:ext cx="393192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5852160"/>
            <a:ext cx="393192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46C3B"/>
                </a:solidFill>
                <a:latin typeface="Georgia"/>
              </a:defRPr>
            </a:pPr>
            <a:r>
              <a:t>📧  Gmail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6583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從信箱撈對帳單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5852160"/>
            <a:ext cx="393192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5852160"/>
            <a:ext cx="3931920" cy="45720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7E"/>
                </a:solidFill>
                <a:latin typeface="Georgia"/>
              </a:defRPr>
            </a:pPr>
            <a:r>
              <a:t>🎨  Canva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6583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設計 IG 宣傳貼文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5852160"/>
            <a:ext cx="3931920" cy="1645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6960" y="5852160"/>
            <a:ext cx="3931920" cy="45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7C5A"/>
                </a:solidFill>
                <a:latin typeface="Georgia"/>
              </a:defRPr>
            </a:pPr>
            <a:r>
              <a:t>📁  Google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83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上傳企劃書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3D2B1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      Skills — 把配方卡存起來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1887200" cy="16459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EEE3"/>
                </a:solidFill>
                <a:latin typeface="Avenir Next"/>
              </a:defRPr>
            </a:pPr>
            <a:r>
              <a:t>AI 正常情況記性不太好 — 每次對話都是全新開始</a:t>
            </a:r>
          </a:p>
          <a:p>
            <a:pPr>
              <a:spcAft>
                <a:spcPts val="1000"/>
              </a:spcAft>
              <a:defRPr sz="2000">
                <a:solidFill>
                  <a:srgbClr val="F5EEE3"/>
                </a:solidFill>
                <a:latin typeface="Avenir Next"/>
              </a:defRPr>
            </a:pPr>
            <a:r>
              <a:t>所以我們把沖煮 SOP 寫成一張配方卡，每次拿給他照著沖</a:t>
            </a:r>
          </a:p>
          <a:p>
            <a:pPr>
              <a:spcAft>
                <a:spcPts val="1000"/>
              </a:spcAft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「照這張卡，幫我沖一杯耶加雪菲」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EEE3"/>
                </a:solidFill>
                <a:latin typeface="Avenir Next"/>
              </a:defRPr>
            </a:pPr>
            <a:r>
              <a:t>同一件事，不同配方卡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663440"/>
            <a:ext cx="393192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6C3B"/>
                </a:solidFill>
                <a:latin typeface="Georgia"/>
              </a:defRPr>
            </a:pPr>
            <a:r>
              <a:t>🌸  淺焙花香系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394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耶加雪菲、藝伎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刻度 25、水溫 92°C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小水柱、悶蒸久一點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風味：花香、柑橘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4663440"/>
            <a:ext cx="3931920" cy="4572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54A"/>
                </a:solidFill>
                <a:latin typeface="Georgia"/>
              </a:defRPr>
            </a:pPr>
            <a:r>
              <a:t>🍫  深焙醇厚系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394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曼特寧、巴西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刻度 20、水溫 88°C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大水柱、快沖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風味：巧克力、堅果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4663440"/>
            <a:ext cx="3931920" cy="292608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66960" y="4663440"/>
            <a:ext cx="3931920" cy="45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7C5A"/>
                </a:solidFill>
                <a:latin typeface="Georgia"/>
              </a:defRPr>
            </a:pPr>
            <a:r>
              <a:t>📊  對帳 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53949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今天第四章要做的！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從 Gmail 撈對帳單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比對交貨記錄</a:t>
            </a:r>
          </a:p>
          <a:p>
            <a:pPr>
              <a:spcAft>
                <a:spcPts val="600"/>
              </a:spcAft>
              <a:defRPr sz="1500">
                <a:solidFill>
                  <a:srgbClr val="F5EEE3"/>
                </a:solidFill>
                <a:latin typeface="Avenir Next"/>
              </a:defRPr>
            </a:pPr>
            <a:r>
              <a:t>產出差異報告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3ECE1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89A8A"/>
                </a:solidFill>
                <a:latin typeface="Georgia"/>
              </a:defRPr>
            </a:pPr>
            <a:r>
              <a:t>      API — 知道就好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36576"/>
          </a:xfrm>
          <a:prstGeom prst="rect">
            <a:avLst/>
          </a:prstGeom>
          <a:solidFill>
            <a:srgbClr val="A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118872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t>API 是不同系統之間溝通的協定</a:t>
            </a:r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t>也是 Connectors（MCP）的基礎</a:t>
            </a:r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</a:p>
          <a:p>
            <a:pPr>
              <a:spcAft>
                <a:spcPts val="1000"/>
              </a:spcAft>
              <a:defRPr sz="2200" b="1">
                <a:solidFill>
                  <a:srgbClr val="2C1E14"/>
                </a:solidFill>
                <a:latin typeface="Avenir Next"/>
              </a:defRPr>
            </a:pPr>
            <a:r>
              <a:t>就像城市之間的道路 — 有了路，貨物才能運送</a:t>
            </a:r>
          </a:p>
          <a:p>
            <a:pPr>
              <a:spcAft>
                <a:spcPts val="1000"/>
              </a:spcAft>
              <a:defRPr sz="2200">
                <a:solidFill>
                  <a:srgbClr val="6B5B4E"/>
                </a:solidFill>
                <a:latin typeface="Avenir Next"/>
              </a:defRPr>
            </a:pPr>
            <a:r>
              <a:t>但你不需要自己去鋪路，會開車就好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943600"/>
            <a:ext cx="7315200" cy="914400"/>
          </a:xfrm>
          <a:prstGeom prst="roundRect">
            <a:avLst>
              <a:gd name="adj" fmla="val 3000"/>
            </a:avLst>
          </a:prstGeom>
          <a:solidFill>
            <a:srgbClr val="F3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6035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這堂課只要會用就好，不討論技術細節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Markdown — 跟 AI 溝通的共同語言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3657600" cy="36576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EEE3"/>
                </a:solidFill>
                <a:latin typeface="Avenir Next"/>
              </a:defRPr>
            </a:pPr>
            <a:r>
              <a:t>AI 讀得懂、你寫得快、格式乾淨 — 三方都開心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5943600" cy="53035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5943600" cy="4572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4A"/>
                </a:solidFill>
                <a:latin typeface="Avenir Next"/>
              </a:defRPr>
            </a:pPr>
            <a:r>
              <a:t>✍️  語法範例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EEE3"/>
                </a:solidFill>
                <a:latin typeface="Menlo"/>
              </a:defRPr>
            </a:pPr>
            <a:r>
              <a:t># 標題</a:t>
            </a:r>
            <a:br/>
            <a:r>
              <a:t>## 小標題</a:t>
            </a:r>
            <a:br/>
            <a:br/>
            <a:r>
              <a:t>**粗體重點**  *斜體補充*</a:t>
            </a:r>
            <a:br/>
            <a:br/>
            <a:r>
              <a:t>- 項目一</a:t>
            </a:r>
            <a:br/>
            <a:r>
              <a:t>- 項目二</a:t>
            </a:r>
            <a:br/>
            <a:r>
              <a:t>  - 子項目</a:t>
            </a:r>
            <a:br/>
            <a:br/>
            <a:r>
              <a:t>| 品項 | 數量 | 單價 |</a:t>
            </a:r>
            <a:br/>
            <a:r>
              <a:t>|------|------|------|</a:t>
            </a:r>
            <a:br/>
            <a:r>
              <a:t>| 耶加雪菲 | 5包 | $850 |</a:t>
            </a:r>
            <a:br/>
            <a:br/>
            <a:r>
              <a:t>&gt; 引用：這段很重要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5943600" cy="5303520"/>
          </a:xfrm>
          <a:prstGeom prst="roundRect">
            <a:avLst>
              <a:gd name="adj" fmla="val 3000"/>
            </a:avLst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286000"/>
            <a:ext cx="5943600" cy="45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6C3B"/>
                </a:solidFill>
                <a:latin typeface="Avenir Next"/>
              </a:defRPr>
            </a:pPr>
            <a:r>
              <a:t>💡  為什麼用 Markdown？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結構清楚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標題、列表、表格</a:t>
            </a:r>
            <a:br/>
            <a:r>
              <a:t>AI 一看就懂，不會搞混重點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寫起來超快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572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不用排版、不用開 Word</a:t>
            </a:r>
            <a:br/>
            <a:r>
              <a:t>純文字就能表達複雜結構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到處都能用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669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Claude、ChatGPT、Notion、GitHub</a:t>
            </a:r>
            <a:br/>
            <a:r>
              <a:t>全部都吃 Markdown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venir Next"/>
              </a:defRPr>
            </a:pPr>
            <a:r>
              <a:t>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venir Next"/>
              </a:defRPr>
            </a:pPr>
            <a:r>
              <a:t>今天的教材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6766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9A8A"/>
                </a:solidFill>
                <a:latin typeface="Avenir Next"/>
              </a:defRPr>
            </a:pPr>
            <a:r>
              <a:t>品牌故事是 .md、數據是 .csv</a:t>
            </a:r>
            <a:br/>
            <a:r>
              <a:t>全部都是純文字格式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C1E14"/>
                </a:solidFill>
                <a:latin typeface="Georgia"/>
              </a:defRPr>
            </a:pPr>
            <a:r>
              <a:t>今天的流程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2743200" cy="36576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103120"/>
            <a:ext cx="11887200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03120"/>
            <a:ext cx="73152" cy="1188720"/>
          </a:xfrm>
          <a:prstGeom prst="rect">
            <a:avLst/>
          </a:prstGeom>
          <a:solidFill>
            <a:srgbClr val="C4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40279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46C3B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2402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E14"/>
                </a:solidFill>
                <a:latin typeface="Georgia"/>
              </a:defRPr>
            </a:pPr>
            <a:r>
              <a:t>觀念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743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同一句話，Chat vs CoWork 的差異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23774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520439"/>
            <a:ext cx="11887200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520439"/>
            <a:ext cx="73152" cy="1188720"/>
          </a:xfrm>
          <a:prstGeom prst="rect">
            <a:avLst/>
          </a:prstGeom>
          <a:solidFill>
            <a:srgbClr val="5B7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657599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B7C5A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5759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E14"/>
                </a:solidFill>
                <a:latin typeface="Georgia"/>
              </a:defRPr>
            </a:pPr>
            <a:r>
              <a:t>行銷企劃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查資料 → 企劃書 → Canva 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7947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50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937760"/>
            <a:ext cx="11887200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937760"/>
            <a:ext cx="73152" cy="1188720"/>
          </a:xfrm>
          <a:prstGeom prst="rect">
            <a:avLst/>
          </a:prstGeom>
          <a:solidFill>
            <a:srgbClr val="D4A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07492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54A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E14"/>
                </a:solidFill>
                <a:latin typeface="Georgia"/>
              </a:defRPr>
            </a:pPr>
            <a:r>
              <a:t>財務對帳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Gmail 撈對帳單 → 比對差異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52120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25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355080"/>
            <a:ext cx="11887200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6355080"/>
            <a:ext cx="73152" cy="1188720"/>
          </a:xfrm>
          <a:prstGeom prst="rect">
            <a:avLst/>
          </a:prstGeom>
          <a:solidFill>
            <a:srgbClr val="8B5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64922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7E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6492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1E14"/>
                </a:solidFill>
                <a:latin typeface="Georgia"/>
              </a:defRPr>
            </a:pPr>
            <a:r>
              <a:t>建立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6995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5B4E"/>
                </a:solidFill>
                <a:latin typeface="Avenir Next"/>
              </a:defRPr>
            </a:pPr>
            <a:r>
              <a:t>把對帳流程變成一鍵指令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6294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A89A8A"/>
                </a:solidFill>
                <a:latin typeface="Avenir Next"/>
              </a:defRPr>
            </a:pPr>
            <a:r>
              <a:t>20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0" y="7498079"/>
            <a:ext cx="14630400" cy="731520"/>
          </a:xfrm>
          <a:prstGeom prst="roundRect">
            <a:avLst>
              <a:gd name="adj" fmla="val 4000"/>
            </a:avLst>
          </a:prstGeom>
          <a:solidFill>
            <a:srgbClr val="2C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7589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9A8A"/>
                </a:solidFill>
                <a:latin typeface="Avenir Next"/>
              </a:defRPr>
            </a:pPr>
            <a:r>
              <a:t>總時長約 2 小時（含休息）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